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DM Sans"/>
      <ns0:italic ns1:id="rIdFont17"/>
      <ns0:bold ns1:id="rIdFont18"/>
      <ns0:regular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b5243ede-098b-4ebd-aacc-06b3d00cedb8.fntdata" /><ns0:Relationship Id="rIdFont18" Type="http://schemas.openxmlformats.org/officeDocument/2006/relationships/font" Target="fonts/d3cf0f12-7366-43c4-af6b-e15be0dfb61e.fntdata" /><ns0:Relationship Id="rIdFont19" Type="http://schemas.openxmlformats.org/officeDocument/2006/relationships/font" Target="fonts/36e71b6e-8490-4ae9-9423-13d19c4ede3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300537"/>
            <a:ext cx="762000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614487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2DD4BF"/>
                </a:solidFill>
                <a:latin typeface="DM Sans"/>
              </a:rPr>
              <a:t>CA2 MINI PROJECT — PHASE 2 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95487"/>
            <a:ext cx="10301287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450" i="0" u="none">
                <a:solidFill>
                  <a:srgbClr val="F8FAFC"/>
                </a:solidFill>
                <a:latin typeface="DM Sans"/>
              </a:rPr>
              <a:t>Explainable Fake News Detection Using BERT with Comparative XAI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28987"/>
            <a:ext cx="84772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CBD5E1"/>
                </a:solidFill>
                <a:latin typeface="DM Sans"/>
              </a:rPr>
              <a:t>Combining Fine-Tuned Transformer Classification with LIME and Anchors Explanations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81537"/>
            <a:ext cx="11430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1F5F9"/>
                </a:solidFill>
                <a:latin typeface="DM Sans"/>
              </a:rPr>
              <a:t>Rithish Natarajan E (25MCAR0016) · Debadrita Saha (25MCAR0028) · Ezhilarasan M (25MCAR0030)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5043487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DM Sans"/>
              </a:rPr>
              <a:t>MCA-AIML (Semester III, 2026–2027) · Natural Language Processing (25MCAA1303) · Faculty: Dr. Sharal Coelho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76562"/>
            <a:ext cx="34290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1500" y="2976562"/>
            <a:ext cx="34290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76562"/>
            <a:ext cx="3429000" cy="219075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2390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DM Sans"/>
              </a:rPr>
              <a:t>System Overview: Three Core Stages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28725"/>
            <a:ext cx="1150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First we classify the news statement, then we explain why using two different XAI methods.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290887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766E"/>
                </a:solidFill>
                <a:latin typeface="DM Sans"/>
              </a:rPr>
              <a:t>STAGE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586162"/>
            <a:ext cx="36754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BERT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995737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DM Sans"/>
              </a:rPr>
              <a:t>Predicts Fake or Real news with confidence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662487"/>
            <a:ext cx="3500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DM Sans"/>
              </a:rPr>
              <a:t>LIAR Dataset · 12,836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5825" y="3290887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766E"/>
                </a:solidFill>
                <a:latin typeface="DM Sans"/>
              </a:rPr>
              <a:t>STAGE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825" y="3586162"/>
            <a:ext cx="36754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LIME Explainer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825" y="3995737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DM Sans"/>
              </a:rPr>
              <a:t>Gives positive or negative scores to important words.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5825" y="4662487"/>
            <a:ext cx="3500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DM Sans"/>
              </a:rPr>
              <a:t>Word-level attribution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290887"/>
            <a:ext cx="3500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766E"/>
                </a:solidFill>
                <a:latin typeface="DM Sans"/>
              </a:rPr>
              <a:t>STAGE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586162"/>
            <a:ext cx="367545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Anchors &amp;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995737"/>
            <a:ext cx="28956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DM Sans"/>
              </a:rPr>
              <a:t>Creates simple IF-THEN word rules for the prediction.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4662487"/>
            <a:ext cx="3500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DM Sans"/>
              </a:rPr>
              <a:t>Rule check &amp;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4386262"/>
            <a:ext cx="10820400" cy="9525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957512"/>
            <a:ext cx="1924050" cy="933450"/>
          </a:xfrm>
          <a:prstGeom prst="roundRect">
            <a:avLst>
              <a:gd name="adj" fmla="val 10204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14650" y="2843212"/>
            <a:ext cx="1924050" cy="1162050"/>
          </a:xfrm>
          <a:prstGeom prst="roundRect">
            <a:avLst>
              <a:gd name="adj" fmla="val 8196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43500" y="2843212"/>
            <a:ext cx="1924050" cy="1162050"/>
          </a:xfrm>
          <a:prstGeom prst="roundRect">
            <a:avLst>
              <a:gd name="adj" fmla="val 8196"/>
            </a:avLst>
          </a:prstGeom>
          <a:solidFill>
            <a:srgbClr val="F0FDFA"/>
          </a:solidFill>
          <a:ln w="952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72350" y="2843212"/>
            <a:ext cx="1924050" cy="1162050"/>
          </a:xfrm>
          <a:prstGeom prst="roundRect">
            <a:avLst>
              <a:gd name="adj" fmla="val 8196"/>
            </a:avLst>
          </a:prstGeom>
          <a:solidFill>
            <a:srgbClr val="F0FDFA"/>
          </a:solidFill>
          <a:ln w="952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0" y="2852737"/>
            <a:ext cx="1905000" cy="114300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43212"/>
            <a:ext cx="10820400" cy="1162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3328987"/>
            <a:ext cx="2286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0" y="3328987"/>
            <a:ext cx="2286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3328987"/>
            <a:ext cx="2286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953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SYSTEM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72390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DM Sans"/>
              </a:rPr>
              <a:t>Step-by-Step Pipeline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228725"/>
            <a:ext cx="1150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The explanation tools are attached after BERT, so model accuracy is never reduced.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624387"/>
            <a:ext cx="103632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34155"/>
                </a:solidFill>
                <a:latin typeface="DM Sans"/>
              </a:rPr>
              <a:t>Why Light Preprocessing?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For BERT, we only remove extra spaces and HTML tags. We keep negation words like </a:t>
            </a:r>
            <a:r>
              <a:rPr b="1" sz="1425" i="0" u="none">
                <a:solidFill>
                  <a:srgbClr val="334155"/>
                </a:solidFill>
                <a:latin typeface="DM Sans"/>
              </a:rPr>
              <a:t>"not"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and </a:t>
            </a:r>
            <a:r>
              <a:rPr b="1" sz="1425" i="0" u="none">
                <a:solidFill>
                  <a:srgbClr val="334155"/>
                </a:solidFill>
                <a:latin typeface="DM Sans"/>
              </a:rPr>
              <a:t>"never"</a:t>
            </a:r>
            <a:r>
              <a:rPr b="0" sz="1425" i="0" u="none">
                <a:solidFill>
                  <a:srgbClr val="334155"/>
                </a:solidFill>
                <a:latin typeface="DM Sans"/>
              </a:rPr>
              <a:t> because removing them changes the full meaning of a news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3195637"/>
            <a:ext cx="200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DM Sans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3424237"/>
            <a:ext cx="2000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DM Sans"/>
              </a:rPr>
              <a:t>Input News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76550" y="3081337"/>
            <a:ext cx="200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DM Sans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6550" y="3309937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DM Sans"/>
              </a:rPr>
              <a:t>Light Cleaning &amp; Tokenizer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5400" y="3081337"/>
            <a:ext cx="200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766E"/>
                </a:solidFill>
                <a:latin typeface="DM Sans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5400" y="3309937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5E59"/>
                </a:solidFill>
                <a:latin typeface="DM Sans"/>
              </a:rPr>
              <a:t>BERT Model (Fake / Real)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0" y="3081337"/>
            <a:ext cx="200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766E"/>
                </a:solidFill>
                <a:latin typeface="DM Sans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0" y="3309937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5E59"/>
                </a:solidFill>
                <a:latin typeface="DM Sans"/>
              </a:rPr>
              <a:t>LIME + Anchors 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3575" y="3081337"/>
            <a:ext cx="2000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2DD4BF"/>
                </a:solidFill>
                <a:latin typeface="DM Sans"/>
              </a:rP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3575" y="3309937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DM Sans"/>
              </a:rPr>
              <a:t>Final Result &amp;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057900"/>
            <a:ext cx="108204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74828" y="2276475"/>
            <a:ext cx="5731371" cy="2990850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605790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000250"/>
            <a:ext cx="2258764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35064" y="2000250"/>
            <a:ext cx="2258764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867150"/>
            <a:ext cx="2258764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35064" y="3867150"/>
            <a:ext cx="2258764" cy="167640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51053" y="3371850"/>
            <a:ext cx="193923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0284" y="3371850"/>
            <a:ext cx="1614189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4474" y="3371850"/>
            <a:ext cx="16255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1053" y="4014787"/>
            <a:ext cx="19392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90284" y="4014787"/>
            <a:ext cx="16141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4474" y="4014787"/>
            <a:ext cx="1625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051053" y="2952750"/>
          <a:ext cx="5178919" cy="1695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39230"/>
                <a:gridCol w="1614189"/>
                <a:gridCol w="1625500"/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DM Sans"/>
                        </a:rPr>
                        <a:t>Actual \ Predicted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F172A"/>
                          </a:solidFill>
                          <a:latin typeface="DM Sans"/>
                        </a:rPr>
                        <a:t>Predicted FAKE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0F172A"/>
                          </a:solidFill>
                          <a:latin typeface="DM Sans"/>
                        </a:rPr>
                        <a:t>Predicted REAL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DM Sans"/>
                        </a:rPr>
                        <a:t>Actual FAKE (553)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50" i="0" u="none">
                          <a:solidFill>
                            <a:srgbClr val="0F766E"/>
                          </a:solidFill>
                          <a:latin typeface="DM Sans"/>
                        </a:rPr>
                        <a:t>338 (TP)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i="0" u="none">
                          <a:solidFill>
                            <a:srgbClr val="64748B"/>
                          </a:solidFill>
                          <a:latin typeface="DM Sans"/>
                        </a:rPr>
                        <a:t>215 (FN)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0F172A"/>
                          </a:solidFill>
                          <a:latin typeface="DM Sans"/>
                        </a:rPr>
                        <a:t>Actual REAL (730)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500" i="0" u="none">
                          <a:solidFill>
                            <a:srgbClr val="64748B"/>
                          </a:solidFill>
                          <a:latin typeface="DM Sans"/>
                        </a:rPr>
                        <a:t>236 (FP)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50" i="0" u="none">
                          <a:solidFill>
                            <a:srgbClr val="0F766E"/>
                          </a:solidFill>
                          <a:latin typeface="DM Sans"/>
                        </a:rPr>
                        <a:t>494 (TN)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5800" y="4572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STAGE 1 RESULTS &amp;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8580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DM Sans"/>
              </a:rPr>
              <a:t>BERT Classification Metrics &amp; Confusion 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171575"/>
            <a:ext cx="1150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475569"/>
                </a:solidFill>
                <a:latin typeface="DM Sans"/>
              </a:rPr>
              <a:t>Evaluated on 1,283 held-out test statements from the LIAR dataset (outperforming SVM at 61.2%).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200775"/>
            <a:ext cx="11506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DM Sans"/>
              </a:rPr>
              <a:t>Dataset Split: 10,269 Training statements · 1,284 Validation statements · 1,283 Testing statements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1053" y="2552700"/>
            <a:ext cx="614094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DM Sans"/>
              </a:rPr>
              <a:t>BERT Confusion Matrix (Test Split = 1,283)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1053" y="4800600"/>
            <a:ext cx="614094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DM Sans"/>
              </a:rPr>
              <a:t>Correct Predictions: </a:t>
            </a:r>
            <a:r>
              <a:rPr b="1" sz="1125" i="0" u="none">
                <a:solidFill>
                  <a:srgbClr val="475569"/>
                </a:solidFill>
                <a:latin typeface="DM Sans"/>
              </a:rPr>
              <a:t>832 / 1,283</a:t>
            </a:r>
            <a:r>
              <a:rPr b="0" sz="1125" i="0" u="none">
                <a:solidFill>
                  <a:srgbClr val="475569"/>
                </a:solidFill>
                <a:latin typeface="DM Sans"/>
              </a:rPr>
              <a:t> (338 True Fake + 494 True Real).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875" y="2219325"/>
            <a:ext cx="2275768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766E"/>
                </a:solidFill>
                <a:latin typeface="DM Sans"/>
              </a:rPr>
              <a:t>64.8%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2809875"/>
            <a:ext cx="2275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Test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875" y="3076575"/>
            <a:ext cx="191586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DM Sans"/>
              </a:rPr>
              <a:t>vs. 60.5% LogReg &amp; 61.2% SVM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4139" y="2219325"/>
            <a:ext cx="2275768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DM Sans"/>
              </a:rPr>
              <a:t>0.642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4139" y="2809875"/>
            <a:ext cx="2275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Macro F1-Score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4139" y="3076575"/>
            <a:ext cx="191586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DM Sans"/>
              </a:rPr>
              <a:t>Balanced across both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" y="4086225"/>
            <a:ext cx="2275768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B45309"/>
                </a:solidFill>
                <a:latin typeface="DM Sans"/>
              </a:rPr>
              <a:t>59.7%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875" y="4676775"/>
            <a:ext cx="2275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Precision (Fake Class)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875" y="4943475"/>
            <a:ext cx="191586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DM Sans"/>
              </a:rPr>
              <a:t>Accuracy of Fake predictions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4139" y="4086225"/>
            <a:ext cx="2275768" cy="552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766E"/>
                </a:solidFill>
                <a:latin typeface="DM Sans"/>
              </a:rPr>
              <a:t>61.1%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4139" y="4676775"/>
            <a:ext cx="22757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DM Sans"/>
              </a:rPr>
              <a:t>Recall (Fake Class)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4139" y="4943475"/>
            <a:ext cx="1915864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DM Sans"/>
              </a:rPr>
              <a:t>Caught 338 of 553 Fake claims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STAGE 2 — WORD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2000"/>
            <a:ext cx="115062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Stage 2: LIME Word-Level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5875"/>
            <a:ext cx="1150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Perturbs words in the input sentence to measure which tokens push BERT toward Fake or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48050"/>
            <a:ext cx="98107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DM Sans"/>
              </a:rPr>
              <a:t>A confidence number alone does not explain the model's reasoning. For the input claim </a:t>
            </a:r>
            <a:r>
              <a:rPr b="0" sz="1500" i="1" u="none">
                <a:solidFill>
                  <a:srgbClr val="1E293B"/>
                </a:solidFill>
                <a:latin typeface="DM Sans"/>
              </a:rPr>
              <a:t>"Government secretly announces a new policy that will affect every citizen"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, LIME highlights </a:t>
            </a:r>
            <a:r>
              <a:rPr b="1" sz="1500" i="0" u="none">
                <a:solidFill>
                  <a:srgbClr val="1E293B"/>
                </a:solidFill>
                <a:latin typeface="DM Sans"/>
              </a:rPr>
              <a:t>"secretly"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(+0.41) and </a:t>
            </a:r>
            <a:r>
              <a:rPr b="1" sz="1500" i="0" u="none">
                <a:solidFill>
                  <a:srgbClr val="1E293B"/>
                </a:solidFill>
                <a:latin typeface="DM Sans"/>
              </a:rPr>
              <a:t>"every"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(+0.21) as primary Fake triggers while scoring </a:t>
            </a:r>
            <a:r>
              <a:rPr b="1" sz="1500" i="0" u="none">
                <a:solidFill>
                  <a:srgbClr val="1E293B"/>
                </a:solidFill>
                <a:latin typeface="DM Sans"/>
              </a:rPr>
              <a:t>"policy"</a:t>
            </a:r>
            <a:r>
              <a:rPr b="0" sz="1500" i="0" u="none">
                <a:solidFill>
                  <a:srgbClr val="1E293B"/>
                </a:solidFill>
                <a:latin typeface="DM Sans"/>
              </a:rPr>
              <a:t> (−0.07) toward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52625"/>
            <a:ext cx="3476625" cy="790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766E"/>
                </a:solidFill>
                <a:latin typeface="DM Sans"/>
              </a:rPr>
              <a:t>93.0%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00350"/>
            <a:ext cx="3476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Sample Fake Prediction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6700" y="1952625"/>
            <a:ext cx="2738437" cy="790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B45309"/>
                </a:solidFill>
                <a:latin typeface="DM Sans"/>
              </a:rPr>
              <a:t>+0.41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6700" y="2800350"/>
            <a:ext cx="2738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Top Fake Weight ("secretly")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7050" y="1952625"/>
            <a:ext cx="2357437" cy="790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800" i="0" u="none">
                <a:solidFill>
                  <a:srgbClr val="0F172A"/>
                </a:solidFill>
                <a:latin typeface="DM Sans"/>
              </a:rPr>
              <a:t>+0.21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7050" y="2800350"/>
            <a:ext cx="2357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Second Weight ("every")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786062"/>
            <a:ext cx="5238750" cy="2628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86062"/>
            <a:ext cx="5238750" cy="2628900"/>
          </a:xfrm>
          <a:prstGeom prst="roundRect">
            <a:avLst>
              <a:gd name="adj" fmla="val 3623"/>
            </a:avLst>
          </a:prstGeom>
          <a:solidFill>
            <a:srgbClr val="F0FDFA"/>
          </a:solidFill>
          <a:ln w="9525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STAGE 3 — RULE EXTRACTION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62000"/>
            <a:ext cx="115062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Stage 3: Comparing LIME with Anchors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85875"/>
            <a:ext cx="1150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Cross-checking LIME word scores with high-precision Anchors rules verifies explanation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100387"/>
            <a:ext cx="576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DM Sans"/>
              </a:rPr>
              <a:t>METHOD 1 — SURROGATE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386137"/>
            <a:ext cx="605075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LIME Word Polarity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3795712"/>
            <a:ext cx="4705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DM Sans"/>
              </a:rPr>
              <a:t>Shows positive and negative word weights in fast time (1.42s per claim).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4481512"/>
            <a:ext cx="5762625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34155"/>
                </a:solidFill>
                <a:latin typeface="DM Sans"/>
              </a:rPr>
              <a:t>Continuous Weights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891087"/>
            <a:ext cx="57626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64748B"/>
                </a:solidFill>
                <a:latin typeface="DM Sans"/>
              </a:rPr>
              <a:t>Shows direction without a strict rule guarantee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00387"/>
            <a:ext cx="56102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METHOD 2 — SUFFICIENT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3386137"/>
            <a:ext cx="56102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DM Sans"/>
              </a:rPr>
              <a:t>LIME + Anchors Combined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3795712"/>
            <a:ext cx="4705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15E59"/>
                </a:solidFill>
                <a:latin typeface="DM Sans"/>
              </a:rPr>
              <a:t>Anchors locks the rule: IF ["secretly" AND "every"] → FAKE with 85.7% agreement on confident predictions.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4481512"/>
            <a:ext cx="5610225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766E"/>
                </a:solidFill>
                <a:latin typeface="DM Sans"/>
              </a:rPr>
              <a:t>94.2% Rule 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4891087"/>
            <a:ext cx="56102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115E59"/>
                </a:solidFill>
                <a:latin typeface="DM Sans"/>
              </a:rPr>
              <a:t>Guarantees when the prediction stays locked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57512"/>
            <a:ext cx="5238750" cy="2314575"/>
          </a:xfrm>
          <a:prstGeom prst="roundRect">
            <a:avLst>
              <a:gd name="adj" fmla="val 41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957512"/>
            <a:ext cx="5238750" cy="2314575"/>
          </a:xfrm>
          <a:prstGeom prst="roundRect">
            <a:avLst>
              <a:gd name="adj" fmla="val 4115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DM Sans"/>
              </a:rPr>
              <a:t>ERROR ANALYSIS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DM Sans"/>
              </a:rPr>
              <a:t>What Comparative XAI Revealed on Wrong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62075"/>
            <a:ext cx="1150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334155"/>
                </a:solidFill>
                <a:latin typeface="DM Sans"/>
              </a:rPr>
              <a:t>Auditing the 236 False Positives and borderline test claims uncovered two major patterns: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75" y="3252787"/>
            <a:ext cx="581025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B45309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075" y="3671887"/>
            <a:ext cx="610076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Sensational Word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4062412"/>
            <a:ext cx="4743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False positives happen when true statements contain dramatic words like "secretly" or "massive". Both explainers proved BERT reacts strongly to emotional phrasing in short claims.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252787"/>
            <a:ext cx="56292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B45309"/>
                </a:solidFill>
                <a:latin typeface="DM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3671887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DM Sans"/>
              </a:rPr>
              <a:t>Borderline Disagreement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4062412"/>
            <a:ext cx="4743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When BERT confidence is near 50%–60%, agreement between LIME and Anchors drops from 85.7% to 38.0%. Disagreement between explainers warns the user not to trust the prediction.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886450"/>
            <a:ext cx="108204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2781300"/>
            <a:ext cx="3429000" cy="1990725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1500" y="2781300"/>
            <a:ext cx="3429000" cy="1990725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81300"/>
            <a:ext cx="3429000" cy="1990725"/>
          </a:xfrm>
          <a:prstGeom prst="roundRect">
            <a:avLst>
              <a:gd name="adj" fmla="val 47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886450"/>
            <a:ext cx="108204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IMPLEMENTATION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76200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DM Sans"/>
              </a:rPr>
              <a:t>Verification Checks Performed During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66825"/>
            <a:ext cx="1150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DM Sans"/>
              </a:rPr>
              <a:t>Three engineering checks improved model reliability and explanation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086475"/>
            <a:ext cx="115062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DM Sans"/>
              </a:rPr>
              <a:t>Takeaway: Post-hoc explainability helps developers debug data shortcuts before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057525"/>
            <a:ext cx="35956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DM Sans"/>
              </a:rPr>
              <a:t>Check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44805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DM Sans"/>
              </a:rPr>
              <a:t>Preserving Negations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100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Keeping stopwords like "not" and "never" prevented meaning reversal in BERT attention.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057525"/>
            <a:ext cx="35956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DM Sans"/>
              </a:rPr>
              <a:t>Check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44805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DM Sans"/>
              </a:rPr>
              <a:t>Text-Only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8100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Excluded speaker history columns so BERT learns language patterns rather than memorizing names.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057525"/>
            <a:ext cx="35956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766E"/>
                </a:solidFill>
                <a:latin typeface="DM Sans"/>
              </a:rPr>
              <a:t>Check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448050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F172A"/>
                </a:solidFill>
                <a:latin typeface="DM Sans"/>
              </a:rPr>
              <a:t>Batched GPU Wrapper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8100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Mini-batching 1,000 perturbations prevented GPU memory crashes during XAI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885950"/>
            <a:ext cx="5181600" cy="19050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24600" y="1885950"/>
            <a:ext cx="5181600" cy="19050"/>
          </a:xfrm>
          <a:prstGeom prst="rect">
            <a:avLst/>
          </a:prstGeom>
          <a:solidFill>
            <a:srgbClr val="99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766E"/>
                </a:solidFill>
                <a:latin typeface="DM Sans"/>
              </a:rPr>
              <a:t>SCOPE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62000"/>
            <a:ext cx="115062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DM Sans"/>
              </a:rPr>
              <a:t>Project Limitations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14475"/>
            <a:ext cx="554069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B45309"/>
                </a:solidFill>
                <a:latin typeface="DM Sans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1514475"/>
            <a:ext cx="554069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766E"/>
                </a:solidFill>
                <a:latin typeface="DM Sans"/>
              </a:rPr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0669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209550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Short Claim Context: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Single sentences lack full article evidence or external facts.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69557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72415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Explanation Latency: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Running LIME and Anchors takes ~6.2 seconds per statement.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242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35280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Boundary Disagreement: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Explainers diverge when BERT confidence is near 50%.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95287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398145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Domain Shift Drop: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Political training data drops to 58.7% on general news headlines.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20669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209550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SHAP Integration: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Add SHAP values as a third axiomatic explanation method.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269557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272415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Full-Article Corpora: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Train across FakeNewsNet and ISOT full-text articles.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32422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335280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Mixed-Precision Speedup: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Use FP16 batching for sub-second web explanations.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3952875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DM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3981450"/>
            <a:ext cx="50673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DM Sans"/>
              </a:rPr>
              <a:t>Live Fact Retrieval: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Connect BERT with external verified news databases.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743575"/>
            <a:ext cx="10820400" cy="5810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43575"/>
            <a:ext cx="108204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DD4BF"/>
                </a:solidFill>
                <a:latin typeface="DM Sans"/>
              </a:rPr>
              <a:t>SUMMARY &amp;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8FAFC"/>
                </a:solidFill>
                <a:latin typeface="DM San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90825"/>
            <a:ext cx="981075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CBD5E1"/>
                </a:solidFill>
                <a:latin typeface="DM Sans"/>
              </a:rPr>
              <a:t>Fine-tuning BERT improves classification accuracy over TF-IDF baselines (60.5% → 64.8%) on the LIAR benchmark. Pairing LIME word weights with Anchors decision rules turns a black-box prediction into a transparent, verifiable output.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62375"/>
            <a:ext cx="109156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Combining two explainers not only builds user trust, but also exposes when a model relies on dramatic word shortcuts.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92455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References: [1] Szczepański et al., Scientific Reports (2021) · [2] Devlin et al., NAACL (2019) · [3] Ribeiro et al., KDD (2016) · [4] Ribeiro et al., AAAI (2018) · [5] Wang, ACL (2017)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53150"/>
            <a:ext cx="1150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DM Sans"/>
              </a:rPr>
              <a:t>AI Usage Acknowledgement: AI tools were used for grammar refinement and slide formatting; all code, training, and evaluations were verified by the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33525"/>
            <a:ext cx="3524250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900" i="0" u="none">
                <a:solidFill>
                  <a:srgbClr val="2DD4BF"/>
                </a:solidFill>
                <a:latin typeface="DM Sans"/>
              </a:rPr>
              <a:t>64.8%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38375"/>
            <a:ext cx="35242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DM Sans"/>
              </a:rPr>
              <a:t>BERT Test Accuracy (Macro F1: 0.642)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8600" y="1533525"/>
            <a:ext cx="3845718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900" i="0" u="none">
                <a:solidFill>
                  <a:srgbClr val="F8FAFC"/>
                </a:solidFill>
                <a:latin typeface="DM Sans"/>
              </a:rPr>
              <a:t>59.7% / 61.1%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38600" y="2238375"/>
            <a:ext cx="384571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DM Sans"/>
              </a:rPr>
              <a:t>Fake Class Precision /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8575" y="1533525"/>
            <a:ext cx="3750468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900" i="0" u="none">
                <a:solidFill>
                  <a:srgbClr val="FBBF24"/>
                </a:solidFill>
                <a:latin typeface="DM Sans"/>
              </a:rPr>
              <a:t>85.7%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8575" y="2238375"/>
            <a:ext cx="375046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94A3B8"/>
                </a:solidFill>
                <a:latin typeface="DM Sans"/>
              </a:rPr>
              <a:t>LIME &amp; Anchors Agreement (High Conf.)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